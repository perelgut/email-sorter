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1841480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3566160"/>
            <a:ext cx="1184148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800" kern="0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58368" y="37947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Schedule  ·  PERT Network  ·  Phase Breakdown  ·  Task Register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617720"/>
            <a:ext cx="2606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4663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49808" y="5166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93008" y="4617720"/>
            <a:ext cx="2606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4448" y="4663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84448" y="5166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7648" y="4617720"/>
            <a:ext cx="2606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4663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19088" y="5166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162288" y="4617720"/>
            <a:ext cx="260604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53728" y="46634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React · Firebase · Claude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253728" y="5166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PROJ-EMAILSORT-001  |  v1.0  |  2026-03-10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REQ-EMAILSORT-001 v1.1  ·  SPEC-EMAILSORT-001 v1.0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97280"/>
          <a:ext cx="116128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286000"/>
                <a:gridCol w="822960"/>
                <a:gridCol w="685800"/>
                <a:gridCol w="43891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Authenticated shell on GitHub Pages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69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+ 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3–5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Gmail syncs &amp; AI sorts 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6A1B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Email 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6–7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Read, delete, reply, categorise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Rules Engine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rules + AI retraining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5E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Outlook Integration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 accounts connected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880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IMAP / SMTP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email accounts connected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565C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47A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Polish &amp; 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14–15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handling, monitoring, docs, QA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3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5852160"/>
            <a:ext cx="22494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5879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Weeks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20040" y="619963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15184" y="5852160"/>
            <a:ext cx="22494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60904" y="5879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Tasks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660904" y="619963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Tasks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56048" y="5852160"/>
            <a:ext cx="22494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01768" y="5879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Firebase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01768" y="619963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7296912" y="5852160"/>
            <a:ext cx="22494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42632" y="5879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342632" y="619963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637776" y="5852160"/>
            <a:ext cx="2249424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83496" y="5879592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683496" y="6199632"/>
            <a:ext cx="21579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100" kern="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 — Project Schedule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1–15  ·  7 Phases  ·  40 Tasks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23160" y="1051560"/>
            <a:ext cx="9326880" cy="2331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23160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044952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3044952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66744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666744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8536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288536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910328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2120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532120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53912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153912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75704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6775704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97496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397496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019288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0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641080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62872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262872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84664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884664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506456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0506456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128248" y="1051560"/>
            <a:ext cx="62179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11128248" y="1051560"/>
            <a:ext cx="0" cy="5486400"/>
          </a:xfrm>
          <a:prstGeom prst="line">
            <a:avLst/>
          </a:prstGeom>
          <a:noFill/>
          <a:ln w="6350">
            <a:solidFill>
              <a:srgbClr val="D0DE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9728" y="1284732"/>
            <a:ext cx="2295144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55448" y="1284732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Foundation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2423160" y="1312164"/>
            <a:ext cx="1225296" cy="178308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" y="1517904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9728" y="1517904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64592" y="151790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1.1  GitHub repo + branch strategy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423160" y="1517904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41448" y="1554480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9728" y="1751076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9728" y="1751076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175107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1.2  GitHub Actions CI/CD pipeline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2423160" y="1751076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41448" y="1787652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9728" y="1984248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9728" y="1984248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64592" y="198424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1.3  Firebase project (Blaze + $0 cap)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423160" y="1984248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41448" y="2020824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9728" y="2217420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09728" y="2217420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64592" y="221742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1.4  Firebase Auth + Google OAuth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2423160" y="2217420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2441448" y="2253996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9728" y="2450592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9728" y="2450592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64592" y="245059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1.5  React app skeleton + routing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2423160" y="2450592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063240" y="2487168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9728" y="2683764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9728" y="2683764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64592" y="268376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1.6  Firestore rules + indexes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2423160" y="2683764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063240" y="2720340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9728" y="2916936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9728" y="2916936"/>
            <a:ext cx="36576" cy="2331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64592" y="291693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1.7  Deploy authenticated shell to GH Pages</a:t>
            </a:r>
            <a:endParaRPr lang="en-US" sz="700" dirty="0"/>
          </a:p>
        </p:txBody>
      </p:sp>
      <p:sp>
        <p:nvSpPr>
          <p:cNvPr id="72" name="Shape 70"/>
          <p:cNvSpPr/>
          <p:nvPr/>
        </p:nvSpPr>
        <p:spPr>
          <a:xfrm>
            <a:off x="2423160" y="2916936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063240" y="2953512"/>
            <a:ext cx="585216" cy="1600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09728" y="3150108"/>
            <a:ext cx="2295144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55448" y="3150108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Gmail + AI Classification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3666744" y="3177540"/>
            <a:ext cx="1847088" cy="178308"/>
          </a:xfrm>
          <a:prstGeom prst="rect">
            <a:avLst/>
          </a:prstGeom>
          <a:solidFill>
            <a:srgbClr val="00695C">
              <a:alpha val="70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9728" y="3383280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9728" y="3383280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64592" y="338328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2.1  Gmail API integration (fetch/list)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2423160" y="3383280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685032" y="3419856"/>
            <a:ext cx="585216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9728" y="3616452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9728" y="3616452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64592" y="361645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2.2  Cloud Function: syncEmails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2423160" y="3616452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685032" y="3653028"/>
            <a:ext cx="1207008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09728" y="3849624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09728" y="3849624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64592" y="384962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2.3  Claude Haiku classifier</a:t>
            </a:r>
            <a:endParaRPr lang="en-US" sz="700" dirty="0"/>
          </a:p>
        </p:txBody>
      </p:sp>
      <p:sp>
        <p:nvSpPr>
          <p:cNvPr id="90" name="Shape 88"/>
          <p:cNvSpPr/>
          <p:nvPr/>
        </p:nvSpPr>
        <p:spPr>
          <a:xfrm>
            <a:off x="2423160" y="3849624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4306824" y="3886200"/>
            <a:ext cx="585216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9728" y="4082796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09728" y="4082796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4592" y="408279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2.4  Confidence scoring + thresholds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2423160" y="4082796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306824" y="4119372"/>
            <a:ext cx="585216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09728" y="4315968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9728" y="4315968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64592" y="431596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2.5  React folder view + email list UI</a:t>
            </a:r>
            <a:endParaRPr lang="en-US" sz="700" dirty="0"/>
          </a:p>
        </p:txBody>
      </p:sp>
      <p:sp>
        <p:nvSpPr>
          <p:cNvPr id="100" name="Shape 98"/>
          <p:cNvSpPr/>
          <p:nvPr/>
        </p:nvSpPr>
        <p:spPr>
          <a:xfrm>
            <a:off x="2423160" y="4315968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306824" y="4352544"/>
            <a:ext cx="1207008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09728" y="4549140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9728" y="4549140"/>
            <a:ext cx="36576" cy="23317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64592" y="454914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2.6  Firestore real-time listeners</a:t>
            </a:r>
            <a:endParaRPr lang="en-US" sz="700" dirty="0"/>
          </a:p>
        </p:txBody>
      </p:sp>
      <p:sp>
        <p:nvSpPr>
          <p:cNvPr id="105" name="Shape 103"/>
          <p:cNvSpPr/>
          <p:nvPr/>
        </p:nvSpPr>
        <p:spPr>
          <a:xfrm>
            <a:off x="2423160" y="4549140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928616" y="4585716"/>
            <a:ext cx="585216" cy="1600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109728" y="4782312"/>
            <a:ext cx="2295144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155448" y="4782312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Full Email Actions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5532120" y="4809744"/>
            <a:ext cx="1225296" cy="178308"/>
          </a:xfrm>
          <a:prstGeom prst="rect">
            <a:avLst/>
          </a:prstGeom>
          <a:solidFill>
            <a:srgbClr val="6A1B9A">
              <a:alpha val="7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09728" y="5015484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109728" y="5015484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164592" y="501548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3.1  Read full email body (on demand)</a:t>
            </a:r>
            <a:endParaRPr lang="en-US" sz="700" dirty="0"/>
          </a:p>
        </p:txBody>
      </p:sp>
      <p:sp>
        <p:nvSpPr>
          <p:cNvPr id="113" name="Shape 111"/>
          <p:cNvSpPr/>
          <p:nvPr/>
        </p:nvSpPr>
        <p:spPr>
          <a:xfrm>
            <a:off x="2423160" y="5015484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550408" y="5052060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109728" y="5248656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09728" y="5248656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64592" y="524865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3.2  Recategorise email + training signal</a:t>
            </a:r>
            <a:endParaRPr lang="en-US" sz="700" dirty="0"/>
          </a:p>
        </p:txBody>
      </p:sp>
      <p:sp>
        <p:nvSpPr>
          <p:cNvPr id="118" name="Shape 116"/>
          <p:cNvSpPr/>
          <p:nvPr/>
        </p:nvSpPr>
        <p:spPr>
          <a:xfrm>
            <a:off x="2423160" y="5248656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5550408" y="5285232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109728" y="5481828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9728" y="5481828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164592" y="548182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3.3  Delete email (Firestore + Gmail Trash)</a:t>
            </a:r>
            <a:endParaRPr lang="en-US" sz="700" dirty="0"/>
          </a:p>
        </p:txBody>
      </p:sp>
      <p:sp>
        <p:nvSpPr>
          <p:cNvPr id="123" name="Shape 121"/>
          <p:cNvSpPr/>
          <p:nvPr/>
        </p:nvSpPr>
        <p:spPr>
          <a:xfrm>
            <a:off x="2423160" y="5481828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5550408" y="5518404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9728" y="5715000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9728" y="5715000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64592" y="571500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3.4  Reply / Forward via Gmail API</a:t>
            </a:r>
            <a:endParaRPr lang="en-US" sz="700" dirty="0"/>
          </a:p>
        </p:txBody>
      </p:sp>
      <p:sp>
        <p:nvSpPr>
          <p:cNvPr id="128" name="Shape 126"/>
          <p:cNvSpPr/>
          <p:nvPr/>
        </p:nvSpPr>
        <p:spPr>
          <a:xfrm>
            <a:off x="2423160" y="5715000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172200" y="5751576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9728" y="5948172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109728" y="5948172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164592" y="594817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3.5  Mark as training example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2423160" y="5948172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6172200" y="5984748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109728" y="6181344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109728" y="6181344"/>
            <a:ext cx="36576" cy="23317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64592" y="618134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3.6  Folder bulk actions (delete all, mark read)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2423160" y="6181344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6172200" y="6217920"/>
            <a:ext cx="585216" cy="1600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9728" y="6414516"/>
            <a:ext cx="2295144" cy="2331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55448" y="6414516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Rules Engine</a:t>
            </a:r>
            <a:endParaRPr lang="en-US" sz="800" dirty="0"/>
          </a:p>
        </p:txBody>
      </p:sp>
      <p:sp>
        <p:nvSpPr>
          <p:cNvPr id="142" name="Shape 140"/>
          <p:cNvSpPr/>
          <p:nvPr/>
        </p:nvSpPr>
        <p:spPr>
          <a:xfrm>
            <a:off x="6775704" y="6441948"/>
            <a:ext cx="1225296" cy="178308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109728" y="6647688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109728" y="6647688"/>
            <a:ext cx="36576" cy="2331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164592" y="664768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4.1  Rule CRUD UI</a:t>
            </a:r>
            <a:endParaRPr lang="en-US" sz="700" dirty="0"/>
          </a:p>
        </p:txBody>
      </p:sp>
      <p:sp>
        <p:nvSpPr>
          <p:cNvPr id="146" name="Shape 144"/>
          <p:cNvSpPr/>
          <p:nvPr/>
        </p:nvSpPr>
        <p:spPr>
          <a:xfrm>
            <a:off x="2423160" y="6647688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6793992" y="6684264"/>
            <a:ext cx="585216" cy="1600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9728" y="6880860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9728" y="6880860"/>
            <a:ext cx="36576" cy="2331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64592" y="688086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4.2  Rule parser (one-time Claude call on save)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2423160" y="6880860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6793992" y="6917436"/>
            <a:ext cx="585216" cy="1600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9728" y="7114032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9728" y="7114032"/>
            <a:ext cx="36576" cy="2331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164592" y="711403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4.3  Rule engine in syncEmails (pre-AI)</a:t>
            </a:r>
            <a:endParaRPr lang="en-US" sz="700" dirty="0"/>
          </a:p>
        </p:txBody>
      </p:sp>
      <p:sp>
        <p:nvSpPr>
          <p:cNvPr id="156" name="Shape 154"/>
          <p:cNvSpPr/>
          <p:nvPr/>
        </p:nvSpPr>
        <p:spPr>
          <a:xfrm>
            <a:off x="2423160" y="7114032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793992" y="7150608"/>
            <a:ext cx="1207008" cy="1600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9728" y="7347204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728" y="7347204"/>
            <a:ext cx="36576" cy="2331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164592" y="734720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4.4  Retrain from folder (training context builder)</a:t>
            </a:r>
            <a:endParaRPr lang="en-US" sz="700" dirty="0"/>
          </a:p>
        </p:txBody>
      </p:sp>
      <p:sp>
        <p:nvSpPr>
          <p:cNvPr id="161" name="Shape 159"/>
          <p:cNvSpPr/>
          <p:nvPr/>
        </p:nvSpPr>
        <p:spPr>
          <a:xfrm>
            <a:off x="2423160" y="7347204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7415784" y="7383780"/>
            <a:ext cx="585216" cy="1600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09728" y="7580376"/>
            <a:ext cx="2295144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55448" y="7580376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5: Outlook Integration</a:t>
            </a:r>
            <a:endParaRPr lang="en-US" sz="800" dirty="0"/>
          </a:p>
        </p:txBody>
      </p:sp>
      <p:sp>
        <p:nvSpPr>
          <p:cNvPr id="165" name="Shape 163"/>
          <p:cNvSpPr/>
          <p:nvPr/>
        </p:nvSpPr>
        <p:spPr>
          <a:xfrm>
            <a:off x="8019288" y="7607808"/>
            <a:ext cx="1225296" cy="178308"/>
          </a:xfrm>
          <a:prstGeom prst="rect">
            <a:avLst/>
          </a:prstGeom>
          <a:solidFill>
            <a:srgbClr val="1B5E20">
              <a:alpha val="70000"/>
            </a:srgbClr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09728" y="7813548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09728" y="7813548"/>
            <a:ext cx="36576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64592" y="781354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5.1  Microsoft Entra app registration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2423160" y="7813548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8037576" y="7850124"/>
            <a:ext cx="585216" cy="160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9728" y="8046720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109728" y="8046720"/>
            <a:ext cx="36576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164592" y="804672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5.2  Graph API token management (MSAL)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2423160" y="8046720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8037576" y="8083296"/>
            <a:ext cx="585216" cy="160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>
            <a:off x="109728" y="8279892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>
            <a:off x="109728" y="8279892"/>
            <a:ext cx="36576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64592" y="827989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5.3  Outlook message fetch + classification</a:t>
            </a:r>
            <a:endParaRPr lang="en-US" sz="700" dirty="0"/>
          </a:p>
        </p:txBody>
      </p:sp>
      <p:sp>
        <p:nvSpPr>
          <p:cNvPr id="179" name="Shape 177"/>
          <p:cNvSpPr/>
          <p:nvPr/>
        </p:nvSpPr>
        <p:spPr>
          <a:xfrm>
            <a:off x="2423160" y="8279892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8659368" y="8316468"/>
            <a:ext cx="585216" cy="160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109728" y="8513064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109728" y="8513064"/>
            <a:ext cx="36576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164592" y="851306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5.4  Outlook delete (Deleted Items)</a:t>
            </a:r>
            <a:endParaRPr lang="en-US" sz="700" dirty="0"/>
          </a:p>
        </p:txBody>
      </p:sp>
      <p:sp>
        <p:nvSpPr>
          <p:cNvPr id="184" name="Shape 182"/>
          <p:cNvSpPr/>
          <p:nvPr/>
        </p:nvSpPr>
        <p:spPr>
          <a:xfrm>
            <a:off x="2423160" y="8513064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8659368" y="8549640"/>
            <a:ext cx="585216" cy="160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109728" y="8746236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109728" y="8746236"/>
            <a:ext cx="36576" cy="233172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64592" y="874623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5.5  Reply / Forward via Graph API</a:t>
            </a:r>
            <a:endParaRPr lang="en-US" sz="700" dirty="0"/>
          </a:p>
        </p:txBody>
      </p:sp>
      <p:sp>
        <p:nvSpPr>
          <p:cNvPr id="189" name="Shape 187"/>
          <p:cNvSpPr/>
          <p:nvPr/>
        </p:nvSpPr>
        <p:spPr>
          <a:xfrm>
            <a:off x="2423160" y="8746236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8659368" y="8782812"/>
            <a:ext cx="585216" cy="1600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109728" y="8979408"/>
            <a:ext cx="2295144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155448" y="8979408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6: IMAP / SMTP</a:t>
            </a:r>
            <a:endParaRPr lang="en-US" sz="800" dirty="0"/>
          </a:p>
        </p:txBody>
      </p:sp>
      <p:sp>
        <p:nvSpPr>
          <p:cNvPr id="193" name="Shape 191"/>
          <p:cNvSpPr/>
          <p:nvPr/>
        </p:nvSpPr>
        <p:spPr>
          <a:xfrm>
            <a:off x="9262872" y="9006840"/>
            <a:ext cx="1225296" cy="178308"/>
          </a:xfrm>
          <a:prstGeom prst="rect">
            <a:avLst/>
          </a:prstGeom>
          <a:solidFill>
            <a:srgbClr val="880E4F">
              <a:alpha val="70000"/>
            </a:srgbClr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109728" y="9212580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09728" y="9212580"/>
            <a:ext cx="36576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164592" y="921258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6.1  IMAP credential storage + encryption</a:t>
            </a:r>
            <a:endParaRPr lang="en-US" sz="700" dirty="0"/>
          </a:p>
        </p:txBody>
      </p:sp>
      <p:sp>
        <p:nvSpPr>
          <p:cNvPr id="197" name="Shape 195"/>
          <p:cNvSpPr/>
          <p:nvPr/>
        </p:nvSpPr>
        <p:spPr>
          <a:xfrm>
            <a:off x="2423160" y="9212580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9281160" y="9249156"/>
            <a:ext cx="585216" cy="1600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109728" y="9445752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109728" y="9445752"/>
            <a:ext cx="36576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64592" y="944575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6.2  IMAP fetch (imap + mailparser)</a:t>
            </a:r>
            <a:endParaRPr lang="en-US" sz="700" dirty="0"/>
          </a:p>
        </p:txBody>
      </p:sp>
      <p:sp>
        <p:nvSpPr>
          <p:cNvPr id="202" name="Shape 200"/>
          <p:cNvSpPr/>
          <p:nvPr/>
        </p:nvSpPr>
        <p:spPr>
          <a:xfrm>
            <a:off x="2423160" y="9445752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9281160" y="9482328"/>
            <a:ext cx="585216" cy="1600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109728" y="9678924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109728" y="9678924"/>
            <a:ext cx="36576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06" name="Text 204"/>
          <p:cNvSpPr/>
          <p:nvPr/>
        </p:nvSpPr>
        <p:spPr>
          <a:xfrm>
            <a:off x="164592" y="967892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6.3  SMTP reply/forward (nodemailer)</a:t>
            </a:r>
            <a:endParaRPr lang="en-US" sz="700" dirty="0"/>
          </a:p>
        </p:txBody>
      </p:sp>
      <p:sp>
        <p:nvSpPr>
          <p:cNvPr id="207" name="Shape 205"/>
          <p:cNvSpPr/>
          <p:nvPr/>
        </p:nvSpPr>
        <p:spPr>
          <a:xfrm>
            <a:off x="2423160" y="9678924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9902952" y="9715500"/>
            <a:ext cx="585216" cy="1600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09728" y="9912096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9728" y="9912096"/>
            <a:ext cx="36576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64592" y="991209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6.4  IMAP EXPUNGE delete + UI warning</a:t>
            </a:r>
            <a:endParaRPr lang="en-US" sz="700" dirty="0"/>
          </a:p>
        </p:txBody>
      </p:sp>
      <p:sp>
        <p:nvSpPr>
          <p:cNvPr id="212" name="Shape 210"/>
          <p:cNvSpPr/>
          <p:nvPr/>
        </p:nvSpPr>
        <p:spPr>
          <a:xfrm>
            <a:off x="2423160" y="9912096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9902952" y="9948672"/>
            <a:ext cx="585216" cy="1600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>
            <a:off x="109728" y="10145268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109728" y="10145268"/>
            <a:ext cx="36576" cy="233172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164592" y="1014526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6.5  Add account wizard (all 3 providers)</a:t>
            </a:r>
            <a:endParaRPr lang="en-US" sz="700" dirty="0"/>
          </a:p>
        </p:txBody>
      </p:sp>
      <p:sp>
        <p:nvSpPr>
          <p:cNvPr id="217" name="Shape 215"/>
          <p:cNvSpPr/>
          <p:nvPr/>
        </p:nvSpPr>
        <p:spPr>
          <a:xfrm>
            <a:off x="2423160" y="10145268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>
            <a:off x="9902952" y="10181844"/>
            <a:ext cx="585216" cy="1600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109728" y="10378440"/>
            <a:ext cx="2295144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55448" y="10378440"/>
            <a:ext cx="22037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7: Polish &amp; Production</a:t>
            </a:r>
            <a:endParaRPr lang="en-US" sz="800" dirty="0"/>
          </a:p>
        </p:txBody>
      </p:sp>
      <p:sp>
        <p:nvSpPr>
          <p:cNvPr id="221" name="Shape 219"/>
          <p:cNvSpPr/>
          <p:nvPr/>
        </p:nvSpPr>
        <p:spPr>
          <a:xfrm>
            <a:off x="10506456" y="10405872"/>
            <a:ext cx="1225296" cy="178308"/>
          </a:xfrm>
          <a:prstGeom prst="rect">
            <a:avLst/>
          </a:prstGeom>
          <a:solidFill>
            <a:srgbClr val="0D47A1">
              <a:alpha val="70000"/>
            </a:srgbClr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109728" y="10611612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109728" y="10611612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164592" y="1061161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7.1  Error state UI + loading skeletons</a:t>
            </a:r>
            <a:endParaRPr lang="en-US" sz="700" dirty="0"/>
          </a:p>
        </p:txBody>
      </p:sp>
      <p:sp>
        <p:nvSpPr>
          <p:cNvPr id="225" name="Shape 223"/>
          <p:cNvSpPr/>
          <p:nvPr/>
        </p:nvSpPr>
        <p:spPr>
          <a:xfrm>
            <a:off x="2423160" y="10611612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>
            <a:off x="10524744" y="10648188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>
            <a:off x="109728" y="10844784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>
            <a:off x="109728" y="10844784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29" name="Text 227"/>
          <p:cNvSpPr/>
          <p:nvPr/>
        </p:nvSpPr>
        <p:spPr>
          <a:xfrm>
            <a:off x="164592" y="10844784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7.2  Firestore usage monitoring</a:t>
            </a:r>
            <a:endParaRPr lang="en-US" sz="700" dirty="0"/>
          </a:p>
        </p:txBody>
      </p:sp>
      <p:sp>
        <p:nvSpPr>
          <p:cNvPr id="230" name="Shape 228"/>
          <p:cNvSpPr/>
          <p:nvPr/>
        </p:nvSpPr>
        <p:spPr>
          <a:xfrm>
            <a:off x="2423160" y="10844784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0524744" y="10881360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>
            <a:off x="109728" y="11077956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>
            <a:off x="109728" y="11077956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4" name="Text 232"/>
          <p:cNvSpPr/>
          <p:nvPr/>
        </p:nvSpPr>
        <p:spPr>
          <a:xfrm>
            <a:off x="164592" y="11077956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7.3  Claude API cost dashboard</a:t>
            </a:r>
            <a:endParaRPr lang="en-US" sz="700" dirty="0"/>
          </a:p>
        </p:txBody>
      </p:sp>
      <p:sp>
        <p:nvSpPr>
          <p:cNvPr id="235" name="Shape 233"/>
          <p:cNvSpPr/>
          <p:nvPr/>
        </p:nvSpPr>
        <p:spPr>
          <a:xfrm>
            <a:off x="2423160" y="11077956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>
            <a:off x="10524744" y="11114532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>
            <a:off x="109728" y="11311128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>
            <a:off x="109728" y="11311128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64592" y="11311128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7.4  Cross-browser QA (Chrome, Firefox, Safari)</a:t>
            </a:r>
            <a:endParaRPr lang="en-US" sz="700" dirty="0"/>
          </a:p>
        </p:txBody>
      </p:sp>
      <p:sp>
        <p:nvSpPr>
          <p:cNvPr id="240" name="Shape 238"/>
          <p:cNvSpPr/>
          <p:nvPr/>
        </p:nvSpPr>
        <p:spPr>
          <a:xfrm>
            <a:off x="2423160" y="11311128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>
            <a:off x="11146536" y="11347704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>
            <a:off x="109728" y="11544300"/>
            <a:ext cx="2295144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>
            <a:off x="109728" y="11544300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4" name="Text 242"/>
          <p:cNvSpPr/>
          <p:nvPr/>
        </p:nvSpPr>
        <p:spPr>
          <a:xfrm>
            <a:off x="164592" y="11544300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7.5  README + developer setup documentation</a:t>
            </a:r>
            <a:endParaRPr lang="en-US" sz="700" dirty="0"/>
          </a:p>
        </p:txBody>
      </p:sp>
      <p:sp>
        <p:nvSpPr>
          <p:cNvPr id="245" name="Shape 243"/>
          <p:cNvSpPr/>
          <p:nvPr/>
        </p:nvSpPr>
        <p:spPr>
          <a:xfrm>
            <a:off x="2423160" y="11544300"/>
            <a:ext cx="9326880" cy="233172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>
            <a:off x="11146536" y="11580876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>
            <a:off x="109728" y="11777472"/>
            <a:ext cx="2295144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>
            <a:off x="109728" y="11777472"/>
            <a:ext cx="36576" cy="233172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49" name="Text 247"/>
          <p:cNvSpPr/>
          <p:nvPr/>
        </p:nvSpPr>
        <p:spPr>
          <a:xfrm>
            <a:off x="164592" y="11777472"/>
            <a:ext cx="218541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7.6  Final deployment + smoke test</a:t>
            </a:r>
            <a:endParaRPr lang="en-US" sz="700" dirty="0"/>
          </a:p>
        </p:txBody>
      </p:sp>
      <p:sp>
        <p:nvSpPr>
          <p:cNvPr id="250" name="Shape 248"/>
          <p:cNvSpPr/>
          <p:nvPr/>
        </p:nvSpPr>
        <p:spPr>
          <a:xfrm>
            <a:off x="2423160" y="11777472"/>
            <a:ext cx="9326880" cy="2331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11146536" y="11814048"/>
            <a:ext cx="585216" cy="1600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>
            <a:off x="2734056" y="1051560"/>
            <a:ext cx="0" cy="5486400"/>
          </a:xfrm>
          <a:prstGeom prst="line">
            <a:avLst/>
          </a:prstGeom>
          <a:noFill/>
          <a:ln w="19050">
            <a:solidFill>
              <a:srgbClr val="F44336"/>
            </a:solidFill>
            <a:prstDash val="dash"/>
          </a:ln>
        </p:spPr>
      </p:sp>
      <p:sp>
        <p:nvSpPr>
          <p:cNvPr id="253" name="Text 251"/>
          <p:cNvSpPr/>
          <p:nvPr/>
        </p:nvSpPr>
        <p:spPr>
          <a:xfrm>
            <a:off x="2459736" y="1069848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443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600" dirty="0"/>
          </a:p>
        </p:txBody>
      </p:sp>
      <p:sp>
        <p:nvSpPr>
          <p:cNvPr id="254" name="Shape 252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55" name="Text 253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256" name="Text 254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 Network — Critical Path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paths are critical (linear sequential dependency)  ·  Total duration: 75 working days (15 weeks)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61288" y="3726180"/>
            <a:ext cx="1920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61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61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04288" y="3726180"/>
            <a:ext cx="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134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134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675888" y="3726180"/>
            <a:ext cx="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50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47488" y="3726180"/>
            <a:ext cx="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566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566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419088" y="3726180"/>
            <a:ext cx="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282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790688" y="3726180"/>
            <a:ext cx="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99832" y="360730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99832" y="360730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686800" y="3250692"/>
            <a:ext cx="0" cy="-786384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85632" y="273862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73862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211312" y="1988820"/>
            <a:ext cx="-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99832" y="186994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99832" y="186994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839712" y="1988820"/>
            <a:ext cx="-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28232" y="1869948"/>
            <a:ext cx="402336" cy="237744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1869948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68112" y="1988820"/>
            <a:ext cx="-420624" cy="0"/>
          </a:xfrm>
          <a:prstGeom prst="line">
            <a:avLst/>
          </a:prstGeom>
          <a:noFill/>
          <a:ln w="25400">
            <a:solidFill>
              <a:srgbClr val="2196F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8600" y="3108960"/>
            <a:ext cx="914400" cy="1234440"/>
          </a:xfrm>
          <a:prstGeom prst="rect">
            <a:avLst/>
          </a:prstGeom>
          <a:solidFill>
            <a:srgbClr val="2196F3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28600" y="3108960"/>
            <a:ext cx="9144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51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13716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3716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3716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4081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+ Firebase Setup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3716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8288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ES:0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8288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EF:5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13716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8288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3716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LS:0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18288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LF:5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27432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27432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27797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+ React Shell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7432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2004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ES:5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32004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EF:10</a:t>
            </a:r>
            <a:endParaRPr lang="en-US" sz="650" dirty="0"/>
          </a:p>
        </p:txBody>
      </p:sp>
      <p:sp>
        <p:nvSpPr>
          <p:cNvPr id="58" name="Shape 56"/>
          <p:cNvSpPr/>
          <p:nvPr/>
        </p:nvSpPr>
        <p:spPr>
          <a:xfrm>
            <a:off x="27432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2004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LS:5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2004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LF:10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41148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1148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1148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2A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41513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+ syncEmails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41148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1148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ES:10</a:t>
            </a:r>
            <a:endParaRPr lang="en-US" sz="650" dirty="0"/>
          </a:p>
        </p:txBody>
      </p:sp>
      <p:sp>
        <p:nvSpPr>
          <p:cNvPr id="69" name="Text 67"/>
          <p:cNvSpPr/>
          <p:nvPr/>
        </p:nvSpPr>
        <p:spPr>
          <a:xfrm>
            <a:off x="45720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EF:20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41148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5720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148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LS:10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5720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LF:20</a:t>
            </a:r>
            <a:endParaRPr lang="en-US" sz="650" dirty="0"/>
          </a:p>
        </p:txBody>
      </p:sp>
      <p:sp>
        <p:nvSpPr>
          <p:cNvPr id="74" name="Shape 72"/>
          <p:cNvSpPr/>
          <p:nvPr/>
        </p:nvSpPr>
        <p:spPr>
          <a:xfrm>
            <a:off x="54864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4864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4864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5229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+ UI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54864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9436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4864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ES:15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59436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EF:25</a:t>
            </a:r>
            <a:endParaRPr lang="en-US" sz="650" dirty="0"/>
          </a:p>
        </p:txBody>
      </p:sp>
      <p:sp>
        <p:nvSpPr>
          <p:cNvPr id="82" name="Shape 80"/>
          <p:cNvSpPr/>
          <p:nvPr/>
        </p:nvSpPr>
        <p:spPr>
          <a:xfrm>
            <a:off x="54864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59436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4864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LS:15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59436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LF:25</a:t>
            </a:r>
            <a:endParaRPr lang="en-US" sz="650" dirty="0"/>
          </a:p>
        </p:txBody>
      </p:sp>
      <p:sp>
        <p:nvSpPr>
          <p:cNvPr id="86" name="Shape 84"/>
          <p:cNvSpPr/>
          <p:nvPr/>
        </p:nvSpPr>
        <p:spPr>
          <a:xfrm>
            <a:off x="68580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8580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580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8945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Email Actions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8580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73152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8580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ES:25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73152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EF:35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68580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3152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68580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LS:25</a:t>
            </a:r>
            <a:endParaRPr lang="en-US" sz="650" dirty="0"/>
          </a:p>
        </p:txBody>
      </p:sp>
      <p:sp>
        <p:nvSpPr>
          <p:cNvPr id="97" name="Text 95"/>
          <p:cNvSpPr/>
          <p:nvPr/>
        </p:nvSpPr>
        <p:spPr>
          <a:xfrm>
            <a:off x="73152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LF:35</a:t>
            </a:r>
            <a:endParaRPr lang="en-US" sz="650" dirty="0"/>
          </a:p>
        </p:txBody>
      </p:sp>
      <p:sp>
        <p:nvSpPr>
          <p:cNvPr id="98" name="Shape 96"/>
          <p:cNvSpPr/>
          <p:nvPr/>
        </p:nvSpPr>
        <p:spPr>
          <a:xfrm>
            <a:off x="8229600" y="310896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99" name="Shape 97"/>
          <p:cNvSpPr/>
          <p:nvPr/>
        </p:nvSpPr>
        <p:spPr>
          <a:xfrm>
            <a:off x="8229600" y="310896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822960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266176" y="338328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8229600" y="378561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686800" y="378561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296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ES:35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8686800" y="378561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EF:45</a:t>
            </a:r>
            <a:endParaRPr lang="en-US" sz="650" dirty="0"/>
          </a:p>
        </p:txBody>
      </p:sp>
      <p:sp>
        <p:nvSpPr>
          <p:cNvPr id="106" name="Shape 104"/>
          <p:cNvSpPr/>
          <p:nvPr/>
        </p:nvSpPr>
        <p:spPr>
          <a:xfrm>
            <a:off x="8229600" y="403250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686800" y="403250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82296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LS:35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8686800" y="403250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LF:45</a:t>
            </a:r>
            <a:endParaRPr lang="en-US" sz="650" dirty="0"/>
          </a:p>
        </p:txBody>
      </p:sp>
      <p:sp>
        <p:nvSpPr>
          <p:cNvPr id="110" name="Shape 108"/>
          <p:cNvSpPr/>
          <p:nvPr/>
        </p:nvSpPr>
        <p:spPr>
          <a:xfrm>
            <a:off x="8229600" y="137160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1" name="Shape 109"/>
          <p:cNvSpPr/>
          <p:nvPr/>
        </p:nvSpPr>
        <p:spPr>
          <a:xfrm>
            <a:off x="8229600" y="137160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82296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8266176" y="16459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Integration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8229600" y="204825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686800" y="204825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296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ES:45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86868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EF:55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8229600" y="229514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686800" y="229514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296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LS:45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86868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LF:55</a:t>
            </a:r>
            <a:endParaRPr lang="en-US" sz="650" dirty="0"/>
          </a:p>
        </p:txBody>
      </p:sp>
      <p:sp>
        <p:nvSpPr>
          <p:cNvPr id="122" name="Shape 120"/>
          <p:cNvSpPr/>
          <p:nvPr/>
        </p:nvSpPr>
        <p:spPr>
          <a:xfrm>
            <a:off x="6858000" y="137160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6858000" y="137160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8580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6894576" y="16459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/ SMTP</a:t>
            </a:r>
            <a:endParaRPr lang="en-US" sz="750" dirty="0"/>
          </a:p>
        </p:txBody>
      </p:sp>
      <p:sp>
        <p:nvSpPr>
          <p:cNvPr id="126" name="Shape 124"/>
          <p:cNvSpPr/>
          <p:nvPr/>
        </p:nvSpPr>
        <p:spPr>
          <a:xfrm>
            <a:off x="6858000" y="204825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7315200" y="204825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8580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ES:55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73152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EF:65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6858000" y="229514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7315200" y="229514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8580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LS:55</a:t>
            </a:r>
            <a:endParaRPr lang="en-US" sz="650" dirty="0"/>
          </a:p>
        </p:txBody>
      </p:sp>
      <p:sp>
        <p:nvSpPr>
          <p:cNvPr id="133" name="Text 131"/>
          <p:cNvSpPr/>
          <p:nvPr/>
        </p:nvSpPr>
        <p:spPr>
          <a:xfrm>
            <a:off x="73152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LF:65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5486400" y="1371600"/>
            <a:ext cx="914400" cy="1234440"/>
          </a:xfrm>
          <a:prstGeom prst="rect">
            <a:avLst/>
          </a:prstGeom>
          <a:solidFill>
            <a:srgbClr val="1A3A5C"/>
          </a:solidFill>
          <a:ln w="19050">
            <a:solidFill>
              <a:srgbClr val="1E609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35" name="Shape 133"/>
          <p:cNvSpPr/>
          <p:nvPr/>
        </p:nvSpPr>
        <p:spPr>
          <a:xfrm>
            <a:off x="5486400" y="1371600"/>
            <a:ext cx="914400" cy="256032"/>
          </a:xfrm>
          <a:prstGeom prst="rect">
            <a:avLst/>
          </a:prstGeom>
          <a:solidFill>
            <a:srgbClr val="1E6091"/>
          </a:solidFill>
          <a:ln w="12700">
            <a:solidFill>
              <a:srgbClr val="1E609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54864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522976" y="16459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+ Production</a:t>
            </a:r>
            <a:endParaRPr lang="en-US" sz="750" dirty="0"/>
          </a:p>
        </p:txBody>
      </p:sp>
      <p:sp>
        <p:nvSpPr>
          <p:cNvPr id="138" name="Shape 136"/>
          <p:cNvSpPr/>
          <p:nvPr/>
        </p:nvSpPr>
        <p:spPr>
          <a:xfrm>
            <a:off x="5486400" y="2048256"/>
            <a:ext cx="45720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943600" y="2048256"/>
            <a:ext cx="457200" cy="246888"/>
          </a:xfrm>
          <a:prstGeom prst="rect">
            <a:avLst/>
          </a:prstGeom>
          <a:solidFill>
            <a:srgbClr val="1E4976"/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54864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ES:65</a:t>
            </a:r>
            <a:endParaRPr lang="en-US" sz="650" dirty="0"/>
          </a:p>
        </p:txBody>
      </p:sp>
      <p:sp>
        <p:nvSpPr>
          <p:cNvPr id="141" name="Text 139"/>
          <p:cNvSpPr/>
          <p:nvPr/>
        </p:nvSpPr>
        <p:spPr>
          <a:xfrm>
            <a:off x="5943600" y="2048256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EF:75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5486400" y="2295144"/>
            <a:ext cx="45720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43600" y="2295144"/>
            <a:ext cx="457200" cy="246888"/>
          </a:xfrm>
          <a:prstGeom prst="rect">
            <a:avLst/>
          </a:prstGeom>
          <a:solidFill>
            <a:srgbClr val="162C42"/>
          </a:solidFill>
          <a:ln w="12700">
            <a:solidFill>
              <a:srgbClr val="162C4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4864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LS:65</a:t>
            </a:r>
            <a:endParaRPr lang="en-US" sz="650" dirty="0"/>
          </a:p>
        </p:txBody>
      </p:sp>
      <p:sp>
        <p:nvSpPr>
          <p:cNvPr id="145" name="Text 143"/>
          <p:cNvSpPr/>
          <p:nvPr/>
        </p:nvSpPr>
        <p:spPr>
          <a:xfrm>
            <a:off x="5943600" y="2295144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LF:75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4114800" y="1371600"/>
            <a:ext cx="914400" cy="1234440"/>
          </a:xfrm>
          <a:prstGeom prst="rect">
            <a:avLst/>
          </a:prstGeom>
          <a:solidFill>
            <a:srgbClr val="2196F3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7" name="Shape 145"/>
          <p:cNvSpPr/>
          <p:nvPr/>
        </p:nvSpPr>
        <p:spPr>
          <a:xfrm>
            <a:off x="4114800" y="1371600"/>
            <a:ext cx="914400" cy="25603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4114800" y="1371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800" dirty="0"/>
          </a:p>
        </p:txBody>
      </p:sp>
      <p:sp>
        <p:nvSpPr>
          <p:cNvPr id="149" name="Text 147"/>
          <p:cNvSpPr/>
          <p:nvPr/>
        </p:nvSpPr>
        <p:spPr>
          <a:xfrm>
            <a:off x="4151376" y="16459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750" dirty="0"/>
          </a:p>
        </p:txBody>
      </p:sp>
      <p:sp>
        <p:nvSpPr>
          <p:cNvPr id="150" name="Shape 148"/>
          <p:cNvSpPr/>
          <p:nvPr/>
        </p:nvSpPr>
        <p:spPr>
          <a:xfrm>
            <a:off x="182880" y="5897880"/>
            <a:ext cx="11795760" cy="685800"/>
          </a:xfrm>
          <a:prstGeom prst="rect">
            <a:avLst/>
          </a:prstGeom>
          <a:solidFill>
            <a:srgbClr val="0A1628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365760" y="6062472"/>
            <a:ext cx="164592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566928" y="6035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node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697480" y="6062472"/>
            <a:ext cx="164592" cy="1645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898648" y="6035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node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5029200" y="6062472"/>
            <a:ext cx="164592" cy="164592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56" name="Text 154"/>
          <p:cNvSpPr/>
          <p:nvPr/>
        </p:nvSpPr>
        <p:spPr>
          <a:xfrm>
            <a:off x="5230368" y="6035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(working days)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7360920" y="6062472"/>
            <a:ext cx="164592" cy="16459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7562088" y="6035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(all paths critical)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9692640" y="6062472"/>
            <a:ext cx="164592" cy="164592"/>
          </a:xfrm>
          <a:prstGeom prst="rect">
            <a:avLst/>
          </a:prstGeom>
          <a:solidFill>
            <a:srgbClr val="B0C4D8"/>
          </a:solidFill>
          <a:ln w="12700">
            <a:solidFill>
              <a:srgbClr val="B0C4D8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9893808" y="60350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ES=Early Start  EF=Early Finish  LS=Late Start  LF=Late Finish  Slack=0 for all nodes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163" name="Text 161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Detail — Phases 1, 2, 3, 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with deliverables and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1133856"/>
            <a:ext cx="279349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279349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2793492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97280"/>
            <a:ext cx="264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07592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4485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4485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1–2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9184" y="1664208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664208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166420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branch strategy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2890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9184" y="2139696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2139696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2139696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2890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9184" y="2615184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2615184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2615184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project (Blaze + $0 cap)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62890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9184" y="3090672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090672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3090672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 + Google OAuth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262890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9184" y="3566160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" y="3566160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3566160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 skeleton + routing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2890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29184" y="4041648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" y="4041648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4048" y="40416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49808" y="404164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rules + indexes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628900" y="40416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29184" y="4517136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" y="4517136"/>
            <a:ext cx="36576" cy="42062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4517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49808" y="4517136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authenticated shell to GH Pages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2628900" y="451713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214116" y="1133856"/>
            <a:ext cx="279349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177540" y="1097280"/>
            <a:ext cx="279349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77540" y="1097280"/>
            <a:ext cx="2793492" cy="5029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50692" y="1097280"/>
            <a:ext cx="264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250692" y="1307592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+ AI Classification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14807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4807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3–5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3232404" y="1664208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232404" y="1664208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8726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3653028" y="166420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API integration (fetch/list)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53212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232404" y="2139696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3232404" y="2139696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28726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653028" y="2139696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Function: syncEmails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553212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232404" y="2615184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32404" y="2615184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8726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3653028" y="2615184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classifier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53212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3232404" y="3090672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3232404" y="3090672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8726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3653028" y="3090672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scoring + thresholds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53212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3232404" y="3566160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3232404" y="3566160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28726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3653028" y="3566160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folder view + email list UI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53212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700" dirty="0"/>
          </a:p>
        </p:txBody>
      </p:sp>
      <p:sp>
        <p:nvSpPr>
          <p:cNvPr id="80" name="Shape 78"/>
          <p:cNvSpPr/>
          <p:nvPr/>
        </p:nvSpPr>
        <p:spPr>
          <a:xfrm>
            <a:off x="3232404" y="4041648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232404" y="4041648"/>
            <a:ext cx="36576" cy="420624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287268" y="40416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2.6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3653028" y="404164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real-time listeners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532120" y="40416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117336" y="1133856"/>
            <a:ext cx="279349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080760" y="1097280"/>
            <a:ext cx="279349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6080760" y="1097280"/>
            <a:ext cx="2793492" cy="50292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153912" y="1097280"/>
            <a:ext cx="264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153912" y="1307592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Email Actions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805129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805129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6–7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6135624" y="1664208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35624" y="1664208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19048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556248" y="166420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full email body (on demand)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843534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6135624" y="2139696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135624" y="2139696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9048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6556248" y="2139696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Recategorise email + training signal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843534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6135624" y="2615184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35624" y="2615184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19048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6556248" y="2615184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email (Firestore + Gmail Trash)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843534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6135624" y="3090672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135624" y="3090672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19048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6556248" y="3090672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Forward via Gmail API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843534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12" name="Shape 110"/>
          <p:cNvSpPr/>
          <p:nvPr/>
        </p:nvSpPr>
        <p:spPr>
          <a:xfrm>
            <a:off x="6135624" y="3566160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135624" y="3566160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19048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6556248" y="3566160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training example</a:t>
            </a:r>
            <a:endParaRPr lang="en-US" sz="800" dirty="0"/>
          </a:p>
        </p:txBody>
      </p:sp>
      <p:sp>
        <p:nvSpPr>
          <p:cNvPr id="116" name="Text 114"/>
          <p:cNvSpPr/>
          <p:nvPr/>
        </p:nvSpPr>
        <p:spPr>
          <a:xfrm>
            <a:off x="843534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6135624" y="4041648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6135624" y="4041648"/>
            <a:ext cx="36576" cy="42062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190488" y="40416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800" dirty="0"/>
          </a:p>
        </p:txBody>
      </p:sp>
      <p:sp>
        <p:nvSpPr>
          <p:cNvPr id="120" name="Text 118"/>
          <p:cNvSpPr/>
          <p:nvPr/>
        </p:nvSpPr>
        <p:spPr>
          <a:xfrm>
            <a:off x="6556248" y="404164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bulk actions (delete all, mark read)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8435340" y="40416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9020556" y="1133856"/>
            <a:ext cx="279349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8983980" y="1097280"/>
            <a:ext cx="279349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8983980" y="1097280"/>
            <a:ext cx="2793492" cy="5029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9057132" y="1097280"/>
            <a:ext cx="26471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9057132" y="1307592"/>
            <a:ext cx="26471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1300" dirty="0"/>
          </a:p>
        </p:txBody>
      </p:sp>
      <p:sp>
        <p:nvSpPr>
          <p:cNvPr id="127" name="Shape 125"/>
          <p:cNvSpPr/>
          <p:nvPr/>
        </p:nvSpPr>
        <p:spPr>
          <a:xfrm>
            <a:off x="1095451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1095451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8–9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9038844" y="1664208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9038844" y="1664208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909370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9459468" y="1664208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CRUD UI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1133856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9038844" y="2139696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038844" y="2139696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09370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9459468" y="2139696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parser (one-time Claude call on save)</a:t>
            </a:r>
            <a:endParaRPr lang="en-US" sz="800" dirty="0"/>
          </a:p>
        </p:txBody>
      </p:sp>
      <p:sp>
        <p:nvSpPr>
          <p:cNvPr id="138" name="Text 136"/>
          <p:cNvSpPr/>
          <p:nvPr/>
        </p:nvSpPr>
        <p:spPr>
          <a:xfrm>
            <a:off x="1133856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</p:txBody>
      </p:sp>
      <p:sp>
        <p:nvSpPr>
          <p:cNvPr id="139" name="Shape 137"/>
          <p:cNvSpPr/>
          <p:nvPr/>
        </p:nvSpPr>
        <p:spPr>
          <a:xfrm>
            <a:off x="9038844" y="2615184"/>
            <a:ext cx="268376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9038844" y="2615184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909370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</a:t>
            </a:r>
            <a:endParaRPr lang="en-US" sz="800" dirty="0"/>
          </a:p>
        </p:txBody>
      </p:sp>
      <p:sp>
        <p:nvSpPr>
          <p:cNvPr id="142" name="Text 140"/>
          <p:cNvSpPr/>
          <p:nvPr/>
        </p:nvSpPr>
        <p:spPr>
          <a:xfrm>
            <a:off x="9459468" y="2615184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 in syncEmails (pre-AI)</a:t>
            </a:r>
            <a:endParaRPr lang="en-US" sz="800" dirty="0"/>
          </a:p>
        </p:txBody>
      </p:sp>
      <p:sp>
        <p:nvSpPr>
          <p:cNvPr id="143" name="Text 141"/>
          <p:cNvSpPr/>
          <p:nvPr/>
        </p:nvSpPr>
        <p:spPr>
          <a:xfrm>
            <a:off x="1133856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700" dirty="0"/>
          </a:p>
        </p:txBody>
      </p:sp>
      <p:sp>
        <p:nvSpPr>
          <p:cNvPr id="144" name="Shape 142"/>
          <p:cNvSpPr/>
          <p:nvPr/>
        </p:nvSpPr>
        <p:spPr>
          <a:xfrm>
            <a:off x="9038844" y="3090672"/>
            <a:ext cx="268376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9038844" y="3090672"/>
            <a:ext cx="36576" cy="420624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909370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</a:t>
            </a:r>
            <a:endParaRPr lang="en-US" sz="800" dirty="0"/>
          </a:p>
        </p:txBody>
      </p:sp>
      <p:sp>
        <p:nvSpPr>
          <p:cNvPr id="147" name="Text 145"/>
          <p:cNvSpPr/>
          <p:nvPr/>
        </p:nvSpPr>
        <p:spPr>
          <a:xfrm>
            <a:off x="9459468" y="3090672"/>
            <a:ext cx="21991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from folder (training context builder)</a:t>
            </a:r>
            <a:endParaRPr lang="en-US" sz="800" dirty="0"/>
          </a:p>
        </p:txBody>
      </p:sp>
      <p:sp>
        <p:nvSpPr>
          <p:cNvPr id="148" name="Text 146"/>
          <p:cNvSpPr/>
          <p:nvPr/>
        </p:nvSpPr>
        <p:spPr>
          <a:xfrm>
            <a:off x="1133856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700" dirty="0"/>
          </a:p>
        </p:txBody>
      </p:sp>
      <p:sp>
        <p:nvSpPr>
          <p:cNvPr id="149" name="Shape 147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151" name="Text 149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61520" cy="54864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Detail — Phases 5, 6, 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breakdown with deliverables and dependencies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10896" y="1133856"/>
            <a:ext cx="376123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37612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097280"/>
            <a:ext cx="3761232" cy="50292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097280"/>
            <a:ext cx="3614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307592"/>
            <a:ext cx="361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Integration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1259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259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10–11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9184" y="1664208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" y="1664208"/>
            <a:ext cx="36576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1664208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app registration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664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329184" y="2139696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9184" y="2139696"/>
            <a:ext cx="36576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49808" y="2139696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token management (MSAL)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59664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29184" y="2615184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" y="2615184"/>
            <a:ext cx="36576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49808" y="2615184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message fetch + classification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59664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29184" y="3090672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9184" y="3090672"/>
            <a:ext cx="36576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49808" y="3090672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delete (Deleted Items)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59664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329184" y="3566160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9184" y="3566160"/>
            <a:ext cx="36576" cy="420624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356616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Reply / Forward via Graph API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59664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4181856" y="1133856"/>
            <a:ext cx="376123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45280" y="1097280"/>
            <a:ext cx="37612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45280" y="1097280"/>
            <a:ext cx="3761232" cy="502920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18432" y="1097280"/>
            <a:ext cx="3614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218432" y="1307592"/>
            <a:ext cx="361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/ SMTP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708355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8355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12–13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200144" y="1664208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00144" y="1664208"/>
            <a:ext cx="36576" cy="4206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5500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620768" y="1664208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credential storage + encryption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46760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4200144" y="2139696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00144" y="2139696"/>
            <a:ext cx="36576" cy="4206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5500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20768" y="2139696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fetch (imap + mailparser)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6760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200144" y="2615184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00144" y="2615184"/>
            <a:ext cx="36576" cy="4206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25500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620768" y="2615184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reply/forward (nodemailer)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46760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4200144" y="3090672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200144" y="3090672"/>
            <a:ext cx="36576" cy="4206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25500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620768" y="3090672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IMAP EXPUNGE delete + UI warning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746760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4200144" y="3566160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200144" y="3566160"/>
            <a:ext cx="36576" cy="420624"/>
          </a:xfrm>
          <a:prstGeom prst="rect">
            <a:avLst/>
          </a:prstGeom>
          <a:solidFill>
            <a:srgbClr val="880E4F"/>
          </a:solidFill>
          <a:ln w="12700">
            <a:solidFill>
              <a:srgbClr val="880E4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5500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0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620768" y="356616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account wizard (all 3 providers)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746760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</a:t>
            </a:r>
            <a:endParaRPr lang="en-US" sz="700" dirty="0"/>
          </a:p>
        </p:txBody>
      </p:sp>
      <p:sp>
        <p:nvSpPr>
          <p:cNvPr id="70" name="Shape 68"/>
          <p:cNvSpPr/>
          <p:nvPr/>
        </p:nvSpPr>
        <p:spPr>
          <a:xfrm>
            <a:off x="8052816" y="1133856"/>
            <a:ext cx="3761232" cy="5303520"/>
          </a:xfrm>
          <a:prstGeom prst="rect">
            <a:avLst/>
          </a:prstGeom>
          <a:solidFill>
            <a:srgbClr val="C8D8EA">
              <a:alpha val="50000"/>
            </a:srgbClr>
          </a:solidFill>
          <a:ln w="12700">
            <a:solidFill>
              <a:srgbClr val="C8D8EA">
                <a:alpha val="5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16240" y="1097280"/>
            <a:ext cx="3761232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E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16240" y="1097280"/>
            <a:ext cx="3761232" cy="5029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089392" y="1097280"/>
            <a:ext cx="3614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089392" y="1307592"/>
            <a:ext cx="3614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&amp; Production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0954512" y="1143000"/>
            <a:ext cx="749808" cy="2560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954512" y="1143000"/>
            <a:ext cx="7498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14–15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8071104" y="1664208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071104" y="1664208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125968" y="16642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8491728" y="1664208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state UI + loading skeletons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11338560" y="166420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700" dirty="0"/>
          </a:p>
        </p:txBody>
      </p:sp>
      <p:sp>
        <p:nvSpPr>
          <p:cNvPr id="82" name="Shape 80"/>
          <p:cNvSpPr/>
          <p:nvPr/>
        </p:nvSpPr>
        <p:spPr>
          <a:xfrm>
            <a:off x="8071104" y="2139696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071104" y="2139696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125968" y="213969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8491728" y="2139696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usage monitoring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11338560" y="2139696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8071104" y="2615184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71104" y="2615184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125968" y="261518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8491728" y="2615184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cost dashboard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11338560" y="2615184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8071104" y="3090672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71104" y="3090672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125968" y="30906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7.4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491728" y="3090672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QA (Chrome, Firefox, Safari)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1338560" y="3090672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8071104" y="3566160"/>
            <a:ext cx="3651504" cy="420624"/>
          </a:xfrm>
          <a:prstGeom prst="rect">
            <a:avLst/>
          </a:prstGeom>
          <a:solidFill>
            <a:srgbClr val="EDF3FB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071104" y="3566160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25968" y="356616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8491728" y="3566160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developer setup documentation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11338560" y="3566160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102" name="Shape 100"/>
          <p:cNvSpPr/>
          <p:nvPr/>
        </p:nvSpPr>
        <p:spPr>
          <a:xfrm>
            <a:off x="8071104" y="4041648"/>
            <a:ext cx="3651504" cy="420624"/>
          </a:xfrm>
          <a:prstGeom prst="rect">
            <a:avLst/>
          </a:prstGeom>
          <a:solidFill>
            <a:srgbClr val="F8FBFF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8071104" y="4041648"/>
            <a:ext cx="36576" cy="420624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125968" y="404164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47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7.6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8491728" y="4041648"/>
            <a:ext cx="3166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deployment + smoke test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11338560" y="4041648"/>
            <a:ext cx="4023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</a:t>
            </a:r>
            <a:endParaRPr lang="en-US" sz="700" dirty="0"/>
          </a:p>
        </p:txBody>
      </p:sp>
      <p:sp>
        <p:nvSpPr>
          <p:cNvPr id="107" name="Shape 105"/>
          <p:cNvSpPr/>
          <p:nvPr/>
        </p:nvSpPr>
        <p:spPr>
          <a:xfrm>
            <a:off x="0" y="6601968"/>
            <a:ext cx="12161520" cy="25603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274320" y="66294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Email Sorter  |  Project Plan  |  PROJ-EMAILSORT-001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8686800" y="6629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Email Sorter — Project Plan</dc:title>
  <dc:subject>PptxGenJS Presentation</dc:subject>
  <dc:creator>Engineering</dc:creator>
  <cp:lastModifiedBy>Engineering</cp:lastModifiedBy>
  <cp:revision>1</cp:revision>
  <dcterms:created xsi:type="dcterms:W3CDTF">2026-03-10T19:13:10Z</dcterms:created>
  <dcterms:modified xsi:type="dcterms:W3CDTF">2026-03-10T19:13:10Z</dcterms:modified>
</cp:coreProperties>
</file>